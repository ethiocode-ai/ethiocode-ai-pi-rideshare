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6" r:id="rId5"/>
    <p:sldId id="262" r:id="rId6"/>
    <p:sldId id="258" r:id="rId7"/>
    <p:sldId id="259" r:id="rId8"/>
    <p:sldId id="260" r:id="rId9"/>
    <p:sldId id="261" r:id="rId10"/>
    <p:sldId id="265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4DFFE-A8F6-4212-AB46-124AD72B37D8}" v="111" dt="2019-02-01T20:52:53.5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2" autoAdjust="0"/>
    <p:restoredTop sz="94660"/>
  </p:normalViewPr>
  <p:slideViewPr>
    <p:cSldViewPr snapToGrid="0">
      <p:cViewPr>
        <p:scale>
          <a:sx n="76" d="100"/>
          <a:sy n="76" d="100"/>
        </p:scale>
        <p:origin x="1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6T02:23:35.696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554 2809,'-221'0,"209"-1,-1 0,1-1,-1-1,-5-1,9 1,-1 1,0 0,1 0,-1 1,0 1,0 0,-5 0,10 1,1 0,0 1,0-1,0 1,0-1,1 1,-1 0,0 1,1-1,-1 1,1-1,0 1,0 0,0 0,0 1,-7 8,0 1,0 1,0 3,1-2,1 0,1 1,1 0,-3 10,-15 67,21-81,-4 19,3 1,0-1,1 15,4 96,1-51,-3-14,-1-2,5 16,0-70,1 0,1 0,4 10,0 2,33 128,-35-139,1-1,6 12,5 12,-13-28,0-1,1-1,1 0,1 0,4 7,1-3,-7-9,0 0,0-1,1 0,0 0,1-1,73 57,-36-30,-25-19,1-1,1-2,0 0,22 9,0-4,1-2,13 1,125 28,1-8,91 3,-35-8,79 9,23-3,-98-7,203 24,-315-43,107-5,-159-10,-1-3,0-4,48-12,-62 7,173-36,-20 2,-46 9,181-35,48-25,-372 92,191-57,-163 44,-2-2,41-23,-53 20,36-29,-53 36,-4 2,-1 0,-1-1,0-2,-1 0,-2-1,9-11,-17 16,1 1,-2-1,0-1,-1 1,-1-1,0-1,-2 1,0-1,0 0,-1-6,1-33,-2 0,-4-46,0 43,1 44,0 0,-1 0,-1 0,-1 0,0 1,-1-1,0 1,-2-2,-4-5,0 1,-2 1,-3-4,-42-58,23 36,-4-13,19 25,1-1,3-1,0-1,-7-32,17 50,0-3,-2 1,-4-8,8 22,0 0,-1 0,0 0,0 1,-1 0,1 0,-1 0,-6-5,0 2,-1 0,-1 0,1 2,-1-1,-1 1,1 1,-6-1,-28-9,-27-5,28 9,-1 3,-1 1,1 3,-1 1,-41 4,-366 3,281-4,-1469 1,1406 7,19 0,-340-7,489 3,-40 8,31-3,-7-3,-279-4,170-2,168 2,0 1,-1 2,-1 0,-17-1,-183-3,212 0</inkml:trace>
  <inkml:trace contextRef="#ctx0" brushRef="#br0" timeOffset="13213.18">6022 3585,'1'0,"1"0,-1 0,1 0,-1-1,1 1,-1-1,0 1,1-1,-1 1,1-1,-1 0,9-4,196-103,-188 98,5-3,20-15,-37 24,1 0,-1 0,1 0,0 1,0 0,0 0,0 1,1 0,-1 0,2 0,10-2,109-26,71-11,65-11,46-4,746-133,311-19,-1086 175,286-45,219-24,-157 58,3 33,-559 11,524-9,124-40,-506 27,-27 3,10 1,103-10,-108 9,-16 1,3-7,200-61,-3-20,-239 65,256-70,-241 74,130-33,-144 30,0-6,-89 27,0-2,-2-3,10-7,-32 15,-1-1,0 0,-2-2,0-1,-1-1,8-11,-4 3,-13 16,-1-1,5-8,0-1,34-53,-18 28,2 1,27-26,5-8,-36 46,1 2,35-28,-24 22,27-19,-19 16,-8 8,1 3,1 1,5 1,12-4,2 2,13-2,-29 17,-34 12,-1 0,0-1,0-1,0 0,5-4,-9 5,-1 1,1 0,0 0,0 1,0 1,8-2,1-1,16-3,1 1,0 2,27 0,106 3,-148 2,3 0</inkml:trace>
  <inkml:trace contextRef="#ctx0" brushRef="#br0" timeOffset="15514.633">19383 0,'0'2,"0"-1,0 1,1-1,-1 0,0 1,1-1,-1 0,1 1,-1-1,1 0,0 1,-1-1,1 0,1 1,2 5,6 8,1-1,0 1,1-1,2 0,57 53,-17-18,-26-21,8 8,3-1,4 0,19 10,-19-15,9 11,-47-37,0 1,0-1,0 1,-1 1,1-1,-1 1,-3-5,0 0,-1 1,1-1,0 1,-1-1,1 1,-1-1,1 1,-1-1,0 1,0-1,0 1,0 0,0-1,0 1,0-1,0 1,0 0,-1-1,1 1,-1-1,1 1,-1-1,0 0,1 1,-1-1,0 1,0-1,-5 6,0 0,0 0,-1-1,0 0,0 0,-3 1,-20 12,0 0,13-10,-42 25,-30 18,74-42,0 1,0 1,1 0,-6 9,13-14,-6 8,-1-1,-1 0,0 0,0-2,-9 5,20-14,0-1,0 1,0 1,0-1,1 0,0 1,-1 0,1 0,1 0,-3 3,0 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28.11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 1,'-1'118,"2"132,1-231,0 0,1 0,1 0,1 0,24 75,-17-60,6 21,3 0,2-1,10 14,-26-55,1 0,1 0,0-1,1 0,3 2,-7-8,0 0,1-1,-1 0,1 0,0 0,0-1,1 0,-1-1,1 0,3 1,24 5,6 0,-2-1,15 3,1-3,0-2,5-2,169-2,-148-3,325 0,-390 0,-1 0,1-1,0-1,0 0,-1-1,0-1,0 0,0-1,0-1,-1 0,0-1,4-4,17-9,-10 6,11-10,-29 20,0-1,-1 0,0 0,0-1,0 1,-1-1,1-2,12-16,5-6,-13 19,0 0,-1-1,-1 0,0-1,-1 0,0 0,3-10,2-16,-5 21,-1-1,0 1,-2-2,-1 1,1-8,-4 26,1-14,-1 0,-1 0,-1-9,1 20,0 0,0 0,0 0,-1 0,0 0,0 0,0 0,-1 1,0-1,0 1,0 0,-3-4,-8-6,0 1,0 1,-1 1,-1 0,-16-9,4 5,-1 1,-1 2,-4-1,-4 2,-1 2,-18-2,17 3,-113-19,84 17,-8 2,-2 1,49 4,-22 2,18 1,-3-2,21 0,1-1,-1-1,1 0,-2-2,2 1,-1 0,0 1,-11-1,9 4,1 1,-4 0,5 1,0-1,-6-2,14 1,1-1,0 0,0 0,-4-2,4 1,-1 0,1 1,-8-1,-11 0,1 1,-1 2,-11 1,-78 9,72-5,29-3,2 1,-1 0,0 1,0 0,1 1,0 0,0 1,-8 6,-5 5,18-12,0 0,-1 0,1-1,-5 2,9-5,0 1,1-1,-1 1,0-1,1 1,-1 0,1 0,-2 2,-4 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31.94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491 285,'-7'0,"0"0,0 0,0 1,0 0,0 0,0 0,1 0,-1 1,0-1,1 1,0 0,0 0,0 0,0 1,0-1,1 1,0 0,0 0,0 0,1 0,-4 3,-7 8,1 0,2 1,0 0,1 0,2 1,-21 27,-13 19,5 0,5 1,1 10,-4 6,13-35,13-28,2-1,0 1,2 1,2-1,0 1,3-10,-1 6,0 1,1 0,2 0,0-1,2 1,1 0,5 10,-8-21,1-1,1 0,-1 0,0 0,1 0,0 0,0 0,0-1,0 1,0 0,0-1,1 1,2 0,54 16,-33-11,2 1,0-2,1 0,0-1,14 1,2 0,49 5,0-2,1-3,16-2,-105-4,867 7,-532-8,638 1,-890-3,-1-2,80-11,-80 7,108-16,-94 11,4 2,321-35,-413 45,-1 0,0 0,0-1,0 0,-1-1,0 0,0 0,2-1,10-5,-1 0,0-1,8-6,-21 11,-1-1,0 0,-1 0,-1-1,0 0,0 0,-2 0,1 0,-2 0,0-1,-1 0,0 1,1-9,0-5,-2 0,-2 0,-1 0,-2 0,-2-3,1 14,-1 1,0 0,-1-1,-1 1,-1 0,-1 0,0 1,-1 0,-1-1,-3-1,-25-18,-2 0,-17-7,44 28,-46-27,-55-23,23 12,30 14,-2 3,-2 1,-35-11,60 26,0 0,-2 1,-1 2,0 1,-1 0,-38-3,-105-5,113 11,0-1,1-2,1-2,-91-15,-79-6,170 24,-38-5,-1 2,-88-1,-61 2,128 4,0 4,-7 3,16 0,88 0,0 1,0 0,1 2,0 0,-23 5,-47 12,-13 6,-13 2,75-16,2 0,0 2,-42 16,91-30,1 1,1-1,-1 0,0 1,1-1,-1 1,1-1,-1 1,1 0,0-1,1 1,-2 1,-6 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18.596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1787 736,'-2'1,"1"-1,-1 1,1-1,-1 1,1-1,-1 1,1 0,0 0,-1 0,1 0,-11 6,-79 23,20-7,-130 44,115-38,22-8,-61 29,2 7,-75 21,12-6,-57 36,214-95,-33 16,-17 13,61-32,1 2,0 0,0 1,1 0,1 2,-6 6,14-11,0 0,0 0,1 0,0 1,1 0,0 0,1 1,-3 8,1 7,0 0,2 0,0 9,-2 63,7 63,0-67,-1 65,1 124,1-241,1-1,3 1,1-1,2-1,1 1,3-1,1-1,2-1,2 0,1-1,23 33,11 3,2-3,3-2,3-3,-16-19,66 67,-68-73,34 23,-48-42,0-2,1 0,1-3,0 0,21 6,-4-4,56 20,-81-32,0-1,0-1,15 1,130 18,-34-7,123 10,-204-23,283 12,-72 0,-62-2,-169-12,78 3,12 6,-22 0,73-2,-72-3,24 6,-27-1,39-3,-98-8,4 1,1-1,-1-3,21-4,-58 5,1 0,-1 0,0 0,0-1,0 0,0-1,0 1,0-1,-1 0,0-1,0 0,3-3,-1 0,-1 0,-1 0,1-1,-1 0,-1 0,0 0,0-1,1-5,3-9,-2-1,-1 0,0 0,-2 0,-1-1,-2 0,0-2,2-8,1-1,6-21,-3 19,2-40,-7-150,-3 119,-2 41,-12-68,5 64,1-57,9 86,0-24,-3 1,-6-27,-4-18,3-90,8 171,-2 0,-2 0,-3-10,0-2,0-9,1-33,3 30,-6-26,-65-340,76 421,-8-41,-12-38,9 40,5 15,-2-1,-1 1,-9-16,-17-22,-4 1,-36-42,65 90,-1 1,-1-1,0 2,-1 0,0 1,-2-1,-10-5,0 1,-28-12,41 22,-2 0,1 0,0 1,-1 1,0 0,-22-2,-9 1,19 2,-85-11,39 4,-26 1,-331 7,214 2,23-1,165 2,0 0,0 2,0 2,1 0,-14 6,-8 5,1 2,1 1,-2 5,35-18,-66 36,73-39,0 0,0 1,1 0,-1 0,1 1,0-1,1 1,-1 0,1 0,0 0,-1 5,0-2,1 0,1 1,0-1,0 1,1 0,0 0,1 0,0 2,0 10</inkml:trace>
  <inkml:trace contextRef="#ctx0" brushRef="#br0" timeOffset="60742.367">4567 0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28.11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3 1,'-3'168,"7"184,-1-325,3 0,2-1,2 1,2 0,64 105,-47-84,18 30,6-1,6-1,27 19,-67-76,2-1,1 0,1-1,2 0,9 4,-19-13,1 0,1 0,0-1,0 0,1-1,1 0,0-1,0 0,1 0,10 0,59 8,15-1,-4 0,40 3,1-3,0-4,15-3,430-3,-376-3,832 0,-1001 0,0-1,-1 0,1-2,-1-1,-1 0,0-2,0-1,-1 0,-1-1,0-2,-2 0,13-5,42-15,-27 10,31-14,-76 28,-1-1,0-1,-2 1,1-1,-2-1,0 0,1-2,30-24,14-7,-33 26,-1 0,-2-1,-1-1,-2 0,-1-1,-2 0,8-14,7-21,-14 27,-2 1,-2-1,-3-1,-2 1,0-12,-9 38,2-21,-2 1,-1-1,-5-12,4 28,0-1,-2 1,1 0,-2 0,0 0,0 0,-1 1,-1-1,0 1,0 0,-1 0,-9-6,-18-7,-1 1,-1 1,-2 1,-1 0,-42-11,9 6,-2 1,0 3,-14-1,-8 2,-2 3,-48-2,44 4,-291-28,218 25,-22 4,-5-1,124 7,-54 3,47 1,-11-3,57 0,1-1,-1-2,1 0,-5-2,5 1,-2 0,0 2,-29-2,25 5,1 1,-9 2,12 0,0-1,-17-2,39 0,0-1,0 0,1 0,-8-2,7 1,-1 0,1 1,-20-2,-26 1,-1 2,0 1,-30 2,-198 14,181-8,80-4,-1 1,1 0,1 1,0 1,0 1,1 0,0 2,-21 7,-11 8,45-16,-1-1,0 0,-1-1,-10 2,23-6,0 0,-1 0,1 0,1 0,-1 1,1 0,0-1,-4 4,-12 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31.94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1786 429,'-26'0,"0"0,0 1,1 0,-1 0,1 1,0-1,1 1,0 0,0 1,1 0,0 0,1 0,0 0,1 1,1 0,1 0,0 0,1 1,1-1,0 1,-10 4,-27 12,4 1,3 0,5 0,3 1,4 1,-74 42,-46 27,17 1,18 2,4 14,-15 9,45-53,51-42,5 0,4 0,4 0,5 1,3 1,12-16,-8 11,4-1,4 1,4 0,3 0,5-1,3 1,20 16,-26-34,0 1,0-1,2 0,0 0,0 0,1 0,1 0,-1-1,2 1,0-1,0 1,1-1,8 1,199 24,-121-16,5 0,2-1,2-1,1-1,50 1,8 1,178 6,3-3,1-4,57-3,-382-5,3153 10,-1933-14,2320 3,-3239-4,-2-4,292-16,-291 11,391-25,-338 17,10 3,1171-54,-1506 70,0-1,-1-1,0 0,-2-1,0 0,-1-1,-1 0,7-2,37-7,-3-1,-2 0,31-10,-78 17,-2-2,-2 1,-2-1,-2-1,-2 1,-2-1,-2-1,-3 1,-2-1,-2 0,-2 0,-3 0,5-13,-1-7,-5 0,-7 0,-6 0,-6 0,-8-5,4 22,-2 0,-3 0,-3 1,-3 0,-3 0,-2 0,-3 0,-3 1,-2 1,-13-4,-91-28,-7 2,-61-12,160 42,-167-38,-201-38,85 20,110 21,-9 3,-8 3,-127-16,219 37,-3 2,-4 2,-2 1,-4 2,-2 1,-139-5,-378-8,407 18,2-3,2-3,2-3,-328-23,-288-7,619 35,-139-9,-4 5,-317-1,-224 1,465 8,-2 4,-23 6,59-1,319 0,0 2,1 1,0 1,1 2,-80 7,-173 17,-48 9,-46 5,273-26,4 1,3 2,-155 26,336-47,0 1,1 0,0 0,0 0,1 1,0-1,0 0,1 1,0 0,1-1,1 1,-4 2,-23 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31.94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1786 429,'-26'0,"0"0,0 1,1 0,-1 0,1 1,0-1,1 1,0 0,0 1,1 0,0 0,1 0,0 0,1 1,1 0,1 0,0 0,1 1,1-1,0 1,-10 4,-27 12,4 1,3 0,5 0,3 1,4 1,-74 42,-46 27,17 1,18 2,4 14,-15 9,45-53,51-42,5 0,4 0,4 0,5 1,3 1,12-16,-8 11,4-1,4 1,4 0,3 0,5-1,3 1,20 16,-26-34,0 1,0-1,2 0,0 0,0 0,1 0,1 0,-1-1,2 1,0-1,0 1,1-1,8 1,199 24,-121-16,5 0,2-1,2-1,1-1,50 1,8 1,178 6,3-3,1-4,57-3,-382-5,3153 10,-1933-14,2320 3,-3239-4,-2-4,292-16,-291 11,391-25,-338 17,10 3,1171-54,-1506 70,0-1,-1-1,0 0,-2-1,0 0,-1-1,-1 0,7-2,37-7,-3-1,-2 0,31-10,-78 17,-2-2,-2 1,-2-1,-2-1,-2 1,-2-1,-2-1,-3 1,-2-1,-2 0,-2 0,-3 0,5-13,-1-7,-5 0,-7 0,-6 0,-6 0,-8-5,4 22,-2 0,-3 0,-3 1,-3 0,-3 0,-2 0,-3 0,-3 1,-2 1,-13-4,-91-28,-7 2,-61-12,160 42,-167-38,-201-38,85 20,110 21,-9 3,-8 3,-127-16,219 37,-3 2,-4 2,-2 1,-4 2,-2 1,-139-5,-378-8,407 18,2-3,2-3,2-3,-328-23,-288-7,619 35,-139-9,-4 5,-317-1,-224 1,465 8,-2 4,-23 6,59-1,319 0,0 2,1 1,0 1,1 2,-80 7,-173 17,-48 9,-46 5,273-26,4 1,3 2,-155 26,336-47,0 1,1 0,0 0,0 0,1 1,0-1,0 0,1 1,0 0,1-1,1 1,-4 2,-23 14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31.94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607 913,'-8'0,"-1"1,0 1,0-1,1 2,-1 0,1 1,-1 0,1 1,0 0,0 1,1 0,-1 1,1 0,0 1,0 0,0 1,1 0,0 1,0 0,0 0,-3 10,-9 24,0 2,3 1,0 1,2 1,1 3,-25 87,-16 59,7 4,5 2,1 31,-4 19,15-112,17-92,2 1,1 1,1 0,2 0,2 5,3-37,-2 25,1-1,1 0,2 1,1-1,1 0,1 0,7 35,-8-72,-1 0,1 0,-1 0,2 0,-1-1,0 0,1 0,-1 0,1-1,0 0,1 0,-1 0,3 2,68 51,-42-34,3-1,0-2,0-2,1-3,17 3,3 3,60 13,1-8,1-7,19-7,-130-12,1072 22,-658-29,789 6,-1101-9,0-7,99-35,-99 22,133-51,-115 34,3 8,398-115,-511 148,0-2,-1-1,0-1,0-1,0-1,-1-1,0-1,2-5,13-13,-1-2,-1-3,11-18,-27 33,0-1,-1-1,-1 0,0-1,-1-1,-1-1,-1 0,0 0,-2-2,1 1,-2-1,-1 0,2-28,0-14,-2 0,-2-1,-2 0,-3 0,-2-10,2 47,-2 0,-1 1,0 0,-1 0,-2 1,0 1,-1 0,-1 1,-1 1,-5-8,-30-58,-3 3,-20-25,54 90,-56-83,-69-80,29 43,37 46,-3 5,-3 5,-42-33,74 80,-2 4,0 2,-2 5,0 2,-2 5,-46-14,-129-15,138 37,1-5,1-7,0-6,-111-48,-98-17,210 74,-47-16,-1 9,-108-4,-76 5,158 15,0 10,-9 12,21-1,107 0,1 2,0 3,0 4,1 2,-28 15,-58 38,-17 19,-15 10,92-57,2 5,1 4,-53 53,114-98,1 1,-1 0,1 1,-1-1,1 1,0 0,0 0,0 1,1-1,-1 1,1 0,-1 3,-8 33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38:28.806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607 913,'-8'0,"-1"1,0 1,0-1,1 2,-1 0,1 1,-1 0,1 1,0 0,0 1,1 0,-1 1,1 0,0 1,0 0,0 1,1 0,0 1,0 0,0 0,-3 10,-9 24,0 2,3 1,0 1,2 1,1 3,-25 87,-16 59,7 4,5 2,1 31,-4 19,15-112,17-92,2 1,1 1,1 0,2 0,2 5,3-37,-2 25,1-1,1 0,2 1,1-1,1 0,1 0,7 35,-8-72,-1 0,1 0,-1 0,2 0,-1-1,0 0,1 0,-1 0,1-1,0 0,1 0,-1 0,3 2,68 51,-42-34,3-1,0-2,0-2,1-3,17 3,3 3,60 13,1-8,1-7,19-7,-130-12,1072 22,-658-29,789 6,-1101-9,0-7,99-35,-99 22,133-51,-115 34,3 8,398-115,-511 148,0-2,-1-1,0-1,0-1,0-1,-1-1,0-1,2-5,13-13,-1-2,-1-3,11-18,-27 33,0-1,-1-1,-1 0,0-1,-1-1,-1-1,-1 0,0 0,-2-2,1 1,-2-1,-1 0,2-28,0-14,-2 0,-2-1,-2 0,-3 0,-2-10,2 47,-2 0,-1 1,0 0,-1 0,-2 1,0 1,-1 0,-1 1,-1 1,-5-8,-30-58,-3 3,-20-25,54 90,-56-83,-69-80,29 43,37 46,-3 5,-3 5,-42-33,74 80,-2 4,0 2,-2 5,0 2,-2 5,-46-14,-129-15,138 37,1-5,1-7,0-6,-111-48,-98-17,210 74,-47-16,-1 9,-108-4,-76 5,158 15,0 10,-9 12,21-1,107 0,1 2,0 3,0 4,1 2,-28 15,-58 38,-17 19,-15 10,92-57,2 5,1 4,-53 53,114-98,1 1,-1 0,1 1,-1-1,1 1,0 0,0 0,0 1,1-1,-1 1,1 0,-1 3,-8 33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1-15T19:00:31.941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255 448,'-3'0,"-1"1,0 0,0-1,1 2,-1-1,1 1,-1 0,1 1,-1-1,1 1,0 0,0 1,0-1,0 1,0 0,0 0,1 1,-1 0,1-1,-1 1,-1 5,-3 12,-1 0,2 1,0 1,0 0,1 1,-10 43,-8 29,4 2,2 1,0 16,-1 8,5-54,8-46,1 1,0 1,1-1,1 1,0 2,2-19,-2 13,1 0,1 0,0 0,1-1,1 1,-1-1,4 18,-4-36,0 1,0-1,0 1,1-1,-1 0,0 0,1 0,-1 0,1-1,-1 1,2-1,-2 1,2 0,29 26,-19-18,3 1,-1-2,0-1,0-1,8 1,1 2,25 6,0-3,1-5,8-2,-55-7,450 12,-276-15,331 3,-462-5,0-3,42-17,-42 11,56-25,-49 16,2 5,167-57,-214 72,-1 0,0-1,1 0,-1-1,0-1,-1 0,1 0,1-3,5-6,-1-1,0-2,5-8,-11 15,-1 1,0-2,0 1,-1-1,1 0,-2-1,1 1,-1-1,0-1,0 1,-1-1,-1 0,2-13,-1-7,0-1,-1 1,-1-1,-1 0,-2-5,2 24,-1-1,0 1,-1 0,0-1,-1 2,1 0,-2-1,1 2,-1-1,-2-3,-13-28,-1 1,-8-13,22 45,-23-41,-29-39,12 21,15 23,0 1,-2 4,-18-17,31 40,0 1,0 1,-2 3,1 1,-1 2,-19-6,-55-8,59 18,0-2,0-4,0-3,-46-23,-41-8,87 35,-19-7,0 5,-46-3,-32 3,67 7,0 5,-4 6,8-1,46 1,0 0,0 2,0 2,0 1,-11 7,-25 19,-7 9,-6 5,39-28,0 3,1 1,-23 27,49-49,0 1,-1 0,1 1,-1-1,1 0,-1 1,1-1,0 1,0 0,0-1,0 1,0 2,-4 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19-02-01T05:01:45.476"/>
    </inkml:context>
    <inkml:brush xml:id="br0">
      <inkml:brushProperty name="width" value="0.1" units="cm"/>
      <inkml:brushProperty name="height" value="0.1" units="cm"/>
      <inkml:brushProperty name="color" value="#333333"/>
      <inkml:brushProperty name="ignorePressure" value="1"/>
    </inkml:brush>
  </inkml:definitions>
  <inkml:trace contextRef="#ctx0" brushRef="#br0">949 448,'-12'0,"-2"1,-1 0,1-1,2 2,-2-1,1 1,-1 0,2 1,-1-1,1 1,1 0,-2 1,2-1,0 1,0 0,0 0,2 1,0 0,-1-1,1 1,-5 5,-14 12,-1 0,6 1,-1 1,4 0,1 1,-39 43,-24 29,10 2,7 1,3 16,-7 8,24-54,26-46,3 1,2 1,2-1,2 1,4 2,4-19,-2 13,1 0,1 0,4 0,1-1,1 1,3-1,10 18,-12-36,-2 1,1-1,0 1,2-1,-2 0,1 0,1 0,-1 0,1-1,1 1,0-1,0 1,4 0,106 26,-65-18,4 1,0-2,1-1,0-1,28 1,4 2,94 6,2-3,1-5,30-2,-204-7,1678 12,-1029-15,1233 3,-1722-5,0-3,155-17,-154 11,207-25,-180 16,5 5,623-57,-800 72,0 0,-1-1,-1 0,1-1,-1-1,-1 0,0 0,4-3,19-6,-1-1,-2-2,18-8,-43 15,1 1,-3-2,0 1,-1-1,-1 0,-2-1,-2 1,1-1,-4-1,2 1,-3-1,-2 0,3-13,1-7,-4-1,-3 1,-3-1,-4 0,-4-5,3 24,-3-1,-1 1,-1 0,-1-1,-3 2,0 0,-1-1,-3 2,0-1,-9-3,-46-28,-6 1,-30-13,84 45,-88-41,-108-39,46 21,58 23,-5 1,-5 4,-65-17,115 40,-3 1,0 1,-2 3,-1 1,-3 2,-72-6,-202-8,216 18,1-2,3-4,-1-3,-174-23,-153-8,329 35,-74-7,-1 5,-169-3,-120 3,248 7,0 5,-14 6,33-1,167 1,2 0,0 2,-1 2,3 1,-45 7,-90 19,-27 9,-23 5,143-28,4 3,1 1,-82 27,177-49,3 1,-3 0,3 1,-3-1,3 0,-1 1,0-1,1 1,1 0,-2-1,2 1,-2 2,-12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FC005-4A82-42E7-8871-D32C533C24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25EEA-7568-4520-B904-47D2CC39C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136E4-682D-4C2C-8068-996A48AE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97ED7-7850-46CA-BE20-A6CC9F42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46FC6-F444-47AF-BAC8-9D5584E4F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61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059FA-50A8-4F24-B963-CDE5FF985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84DC-D06D-4E86-A5AF-D7D94AA8B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CC836-B64E-4CE0-A2BF-E492C647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EA06C-4BAB-48A6-990C-5822977C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F182E-AC60-4D56-B3B9-5B91E5B9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333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CB12-F632-4664-BF04-87A1EB29B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61FBF4-22AB-4D8E-8E08-6B6353995E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783A8-48EB-4901-9AAE-F81EB40F8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FF5C-6126-4F78-A5D4-9740F4C3E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58343-3666-464A-8B7D-9FCDCEC7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65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3DB5-7962-40F8-9D49-D22EB5B75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489CD-189D-4FCC-8C5F-864E3E6EB5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A01E8-EDF3-4D38-A54E-26390C9E0A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FC879-572C-4783-AD10-CFF1070BF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6547CF-6EAB-4295-8D3C-440599535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973048-8472-483F-A046-3655BA158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303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2D16C-AC70-44BE-B1FB-BAF04E61A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BAC35-AE99-4F1D-B8CA-8A5DFB21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A2AB1-276A-48CB-BDF2-49060AABC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D380A9-3263-47CC-9693-D07E64C66E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1B7CBF-F715-4F04-AC06-4B1D09D638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201F03-CDC0-4D2C-A1D9-0DDF2A73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41DE9-780D-45F5-B421-767D0FE49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69D7E-6FE2-432B-9C2A-543C0D80E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71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3E9FA-6CE5-4D49-83FD-75585CE13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FBBDC-B4F8-4A1F-ABF7-C48E34C10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D2F00D-40A1-4942-ABED-952733CB4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41A73A-FE44-47A1-B958-3990FD3E9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58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3793FD-75B3-491E-BC90-FC759EC86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798760-8C39-4DF1-9536-4DE45B9A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B32A9-3B1F-4FF7-8D17-B07F462A2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18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9922-FD02-4E92-930A-6A24A74F1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125F9-7215-4B25-ACF5-7F874B3FE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7CCA20-5154-4A1B-9937-B69C4049B8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567C1-81F7-49DF-B433-763EB9D33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5B4DF1-B3C5-4E45-A74B-F1022C99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7BD2B-BF89-47C4-BA4D-A7407FFF0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52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C5C05-566E-4B81-96EF-D87B70A3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93D7FB-EECD-4500-B210-163940678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0851D1-CAFF-4CD0-A6B3-8D469A18CE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7AAEA-DA19-4429-875A-9DE400D0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3EDD8-95DA-4314-98D4-FB5E5EB7B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4B8AB7-C2DD-42D4-AD8C-EC0D47056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69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25E5E-1716-4F70-B9A5-7B31354F2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C793D-5508-4F17-8B99-450E955BF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D99A-349F-43DD-9F0E-853E18C2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B953A-06F4-4B6F-8557-EB880974D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15A4D-9B14-4F0E-AF6F-95A6D1D5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25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7DB6CA-14CF-488F-806F-AE045E668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9E621-FA6F-41F1-81A5-1DC8A57AE0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137B1A-E548-47A3-B6E9-245C223C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AAFC2-36AA-4571-BDFC-F5973BAE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44F0E-59E0-478E-AE0C-0A31D5419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541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4E3BA-9280-491D-8D70-508DEC55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1447E-E9E9-49B1-B780-987CE52D18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2BCF5-DFAB-4E92-8B26-CD17B53AB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3D901-FA94-4EC7-88B6-A9ADCE0D7A71}" type="datetimeFigureOut">
              <a:rPr lang="en-US" smtClean="0"/>
              <a:t>1/31/2019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96C0D-ADAA-4288-A036-6122E0AA98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9F00B-DAA8-4B90-935A-04488E4B3D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6834C-13F4-4667-A748-DD1657A2B5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56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3.xml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customXml" Target="../ink/ink6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9.xml"/><Relationship Id="rId4" Type="http://schemas.openxmlformats.org/officeDocument/2006/relationships/image" Target="../media/image8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1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0BBD7-4F91-4399-BED2-D00D26B015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Demographics Dashboard Adjustments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6657B2-A07F-4A9A-AFC0-023D2D5CF0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Eureka Analytics</a:t>
            </a:r>
          </a:p>
        </p:txBody>
      </p:sp>
    </p:spTree>
    <p:extLst>
      <p:ext uri="{BB962C8B-B14F-4D97-AF65-F5344CB8AC3E}">
        <p14:creationId xmlns:p14="http://schemas.microsoft.com/office/powerpoint/2010/main" val="4018801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Main Dashboard Views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4653A-DA2A-44CE-A86D-491C68986963}"/>
              </a:ext>
            </a:extLst>
          </p:cNvPr>
          <p:cNvSpPr txBox="1"/>
          <p:nvPr/>
        </p:nvSpPr>
        <p:spPr>
          <a:xfrm>
            <a:off x="957501" y="1526060"/>
            <a:ext cx="1677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Current view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575FF57-05CF-447A-BCF1-72AA30937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919" y="2004405"/>
            <a:ext cx="10704162" cy="18595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8BE1FE6-F425-41C5-AEA4-55524333F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26" y="4633320"/>
            <a:ext cx="10704162" cy="185955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80021ED-0AAA-44C1-92B6-5A1AA6ED8783}"/>
              </a:ext>
            </a:extLst>
          </p:cNvPr>
          <p:cNvSpPr txBox="1"/>
          <p:nvPr/>
        </p:nvSpPr>
        <p:spPr>
          <a:xfrm>
            <a:off x="9236990" y="4633320"/>
            <a:ext cx="1632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Population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5A4797A-9938-4AB1-A452-1B5EA3EA33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969" y="4952260"/>
            <a:ext cx="2166372" cy="9429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18339BD-8D28-4DBF-BFA2-480DE92183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6902" y="5013045"/>
            <a:ext cx="738995" cy="5006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F77C2E-66AF-43AD-BBEF-B159331FF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248" y="4791862"/>
            <a:ext cx="3290928" cy="942975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C2FC19C-8489-46C6-AC26-4E08AD883207}"/>
              </a:ext>
            </a:extLst>
          </p:cNvPr>
          <p:cNvSpPr txBox="1"/>
          <p:nvPr/>
        </p:nvSpPr>
        <p:spPr>
          <a:xfrm>
            <a:off x="1014708" y="4911100"/>
            <a:ext cx="339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Location: Denver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7D43F7-CC1C-4A68-8826-762774D021F0}"/>
              </a:ext>
            </a:extLst>
          </p:cNvPr>
          <p:cNvSpPr txBox="1"/>
          <p:nvPr/>
        </p:nvSpPr>
        <p:spPr>
          <a:xfrm>
            <a:off x="1151229" y="4122013"/>
            <a:ext cx="2179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Should look like…</a:t>
            </a:r>
          </a:p>
        </p:txBody>
      </p:sp>
    </p:spTree>
    <p:extLst>
      <p:ext uri="{BB962C8B-B14F-4D97-AF65-F5344CB8AC3E}">
        <p14:creationId xmlns:p14="http://schemas.microsoft.com/office/powerpoint/2010/main" val="3327417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Main Dashboard View – Location Data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878342" y="1406209"/>
            <a:ext cx="5341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 label header with </a:t>
            </a:r>
            <a:r>
              <a:rPr lang="en-US" b="1" dirty="0"/>
              <a:t>Interactive Location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F10C0D-FB98-4EAD-BA95-DBE0A01DE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3" y="2044899"/>
            <a:ext cx="11225939" cy="205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7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Main Dashboard View – Location </a:t>
            </a:r>
            <a:r>
              <a:rPr lang="en-US"/>
              <a:t>Data Filter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878342" y="1406209"/>
            <a:ext cx="4876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Bind Sector – Food, Restaurant, Beverages, etc.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6EC999-E09C-4C34-948E-123114ED1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5" y="1974043"/>
            <a:ext cx="8920163" cy="4777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78044-3A64-430F-87CA-9DFAED76A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51" y="3429000"/>
            <a:ext cx="2147887" cy="197084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6F83227-71BD-4B75-B6D2-882EA44FCA2C}"/>
                  </a:ext>
                </a:extLst>
              </p14:cNvPr>
              <p14:cNvContentPartPr/>
              <p14:nvPr/>
            </p14:nvContentPartPr>
            <p14:xfrm>
              <a:off x="322840" y="3342802"/>
              <a:ext cx="7171475" cy="174204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6F83227-71BD-4B75-B6D2-882EA44FCA2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4840" y="3324806"/>
                <a:ext cx="7207115" cy="177768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549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2B5C4977-9E6F-4135-A1E4-B0FC80798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501" y="2051221"/>
            <a:ext cx="8651935" cy="45592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– Gender Ratio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14653A-DA2A-44CE-A86D-491C68986963}"/>
              </a:ext>
            </a:extLst>
          </p:cNvPr>
          <p:cNvSpPr txBox="1"/>
          <p:nvPr/>
        </p:nvSpPr>
        <p:spPr>
          <a:xfrm>
            <a:off x="957501" y="1526060"/>
            <a:ext cx="4241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 Adjustment ( the graph is too small)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0A3D94-6823-498C-AF83-D8AC1E9AE5B2}"/>
              </a:ext>
            </a:extLst>
          </p:cNvPr>
          <p:cNvSpPr txBox="1"/>
          <p:nvPr/>
        </p:nvSpPr>
        <p:spPr>
          <a:xfrm>
            <a:off x="7142461" y="3637107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-1.03% </a:t>
            </a:r>
            <a:r>
              <a:rPr lang="en-US" sz="1400" b="1" dirty="0"/>
              <a:t>vs. Colorado(State)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8DBD04-F0CB-4BC7-9524-2DE427B7FECB}"/>
              </a:ext>
            </a:extLst>
          </p:cNvPr>
          <p:cNvSpPr txBox="1"/>
          <p:nvPr/>
        </p:nvSpPr>
        <p:spPr>
          <a:xfrm>
            <a:off x="7142461" y="4003290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+ </a:t>
            </a:r>
            <a:r>
              <a:rPr lang="en-US" sz="1400" b="1" dirty="0"/>
              <a:t>3.76% vs. Denver(City)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F461A-F610-47D0-B6FF-5762BD82A45D}"/>
              </a:ext>
            </a:extLst>
          </p:cNvPr>
          <p:cNvSpPr txBox="1"/>
          <p:nvPr/>
        </p:nvSpPr>
        <p:spPr>
          <a:xfrm>
            <a:off x="9410264" y="2551837"/>
            <a:ext cx="2664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Male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Female Population</a:t>
            </a:r>
          </a:p>
        </p:txBody>
      </p:sp>
    </p:spTree>
    <p:extLst>
      <p:ext uri="{BB962C8B-B14F-4D97-AF65-F5344CB8AC3E}">
        <p14:creationId xmlns:p14="http://schemas.microsoft.com/office/powerpoint/2010/main" val="1463858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– Marital 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8966C7-7AC9-4CF9-A955-F7DB63E14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13" y="1775574"/>
            <a:ext cx="8334527" cy="478299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F16B54-D205-4B29-8C2B-9689659F7A55}"/>
                  </a:ext>
                </a:extLst>
              </p14:cNvPr>
              <p14:cNvContentPartPr/>
              <p14:nvPr/>
            </p14:nvContentPartPr>
            <p14:xfrm>
              <a:off x="7488038" y="2424086"/>
              <a:ext cx="663480" cy="362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F16B54-D205-4B29-8C2B-9689659F7A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0038" y="2406446"/>
                <a:ext cx="69912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14:cNvPr>
              <p14:cNvContentPartPr/>
              <p14:nvPr/>
            </p14:nvContentPartPr>
            <p14:xfrm>
              <a:off x="7329378" y="3466942"/>
              <a:ext cx="1644279" cy="429154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11376" y="3448925"/>
                <a:ext cx="1679922" cy="4648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E8BABC1-2134-4FB0-9B49-63C94C909D4B}"/>
                  </a:ext>
                </a:extLst>
              </p14:cNvPr>
              <p14:cNvContentPartPr/>
              <p14:nvPr/>
            </p14:nvContentPartPr>
            <p14:xfrm>
              <a:off x="462231" y="2605526"/>
              <a:ext cx="1644279" cy="1422383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E8BABC1-2134-4FB0-9B49-63C94C909D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4229" y="2587526"/>
                <a:ext cx="1679922" cy="1458024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14505" y="1010066"/>
            <a:ext cx="26807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Center labels – visibility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Relative 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Limit decimals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2FA6C2-2924-40D8-9170-F8E50A6035A6}"/>
              </a:ext>
            </a:extLst>
          </p:cNvPr>
          <p:cNvSpPr txBox="1"/>
          <p:nvPr/>
        </p:nvSpPr>
        <p:spPr>
          <a:xfrm>
            <a:off x="9265613" y="2534066"/>
            <a:ext cx="26648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Married Spouse Absent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Married Spouse Absent Separated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Married Spouse Present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C4B153-A232-45F6-BF10-D5905A130DD9}"/>
              </a:ext>
            </a:extLst>
          </p:cNvPr>
          <p:cNvCxnSpPr/>
          <p:nvPr/>
        </p:nvCxnSpPr>
        <p:spPr>
          <a:xfrm>
            <a:off x="1594022" y="2786966"/>
            <a:ext cx="7753864" cy="4257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CCA913-679A-4848-BD5A-D463EE95C35E}"/>
              </a:ext>
            </a:extLst>
          </p:cNvPr>
          <p:cNvSpPr txBox="1"/>
          <p:nvPr/>
        </p:nvSpPr>
        <p:spPr>
          <a:xfrm>
            <a:off x="6720947" y="4224149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-1.03% </a:t>
            </a:r>
            <a:r>
              <a:rPr lang="en-US" sz="1400" b="1" dirty="0"/>
              <a:t>vs. Colorado(State)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0EA90F-FA6B-4460-869F-9B9990C17C6F}"/>
              </a:ext>
            </a:extLst>
          </p:cNvPr>
          <p:cNvSpPr txBox="1"/>
          <p:nvPr/>
        </p:nvSpPr>
        <p:spPr>
          <a:xfrm>
            <a:off x="6720947" y="4590332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+ </a:t>
            </a:r>
            <a:r>
              <a:rPr lang="en-US" sz="1400" b="1" dirty="0"/>
              <a:t>3.76% vs. Denver(City)</a:t>
            </a:r>
          </a:p>
        </p:txBody>
      </p:sp>
    </p:spTree>
    <p:extLst>
      <p:ext uri="{BB962C8B-B14F-4D97-AF65-F5344CB8AC3E}">
        <p14:creationId xmlns:p14="http://schemas.microsoft.com/office/powerpoint/2010/main" val="2409557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0249C8-025E-44A6-B435-3344C049A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17" y="2079188"/>
            <a:ext cx="9004062" cy="46780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– Household Income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2F16B54-D205-4B29-8C2B-9689659F7A55}"/>
                  </a:ext>
                </a:extLst>
              </p14:cNvPr>
              <p14:cNvContentPartPr/>
              <p14:nvPr/>
            </p14:nvContentPartPr>
            <p14:xfrm>
              <a:off x="6719887" y="2760358"/>
              <a:ext cx="1704975" cy="511479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2F16B54-D205-4B29-8C2B-9689659F7A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701879" y="2742348"/>
                <a:ext cx="1740630" cy="547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14:cNvPr>
              <p14:cNvContentPartPr/>
              <p14:nvPr/>
            </p14:nvContentPartPr>
            <p14:xfrm>
              <a:off x="523875" y="5633356"/>
              <a:ext cx="5976937" cy="64838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05870" y="5615335"/>
                <a:ext cx="6012587" cy="684062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49FB490-2FCF-4D0E-B90B-7EB57BB97255}"/>
              </a:ext>
            </a:extLst>
          </p:cNvPr>
          <p:cNvSpPr txBox="1"/>
          <p:nvPr/>
        </p:nvSpPr>
        <p:spPr>
          <a:xfrm>
            <a:off x="6897568" y="3465657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-1.03% </a:t>
            </a:r>
            <a:r>
              <a:rPr lang="en-US" sz="1400" b="1" dirty="0"/>
              <a:t>vs. Colorado(State)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9A06D-1B19-45C9-8D33-BEBF57AD95EE}"/>
              </a:ext>
            </a:extLst>
          </p:cNvPr>
          <p:cNvSpPr txBox="1"/>
          <p:nvPr/>
        </p:nvSpPr>
        <p:spPr>
          <a:xfrm>
            <a:off x="6897568" y="3831840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+ </a:t>
            </a:r>
            <a:r>
              <a:rPr lang="en-US" sz="1400" b="1" dirty="0"/>
              <a:t>3.76% vs. Denver(City)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14505" y="1010066"/>
            <a:ext cx="33031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Median Household Income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“Income” from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 a comma in the #s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 “to” with a hyphen (-)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DFFEC5B0-5CCA-43AA-B4C3-E6FD6ABD0613}"/>
              </a:ext>
            </a:extLst>
          </p:cNvPr>
          <p:cNvSpPr/>
          <p:nvPr/>
        </p:nvSpPr>
        <p:spPr>
          <a:xfrm>
            <a:off x="820741" y="1297060"/>
            <a:ext cx="183306" cy="78212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EBB5405-A5DE-4B21-9058-F753AD5EB632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H="1" flipV="1">
            <a:off x="820741" y="1688124"/>
            <a:ext cx="38152" cy="4198326"/>
          </a:xfrm>
          <a:prstGeom prst="bentConnector4">
            <a:avLst>
              <a:gd name="adj1" fmla="val -599182"/>
              <a:gd name="adj2" fmla="val 546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5906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25DCAD3-BDE4-4390-A703-C00FD8528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48" y="1333502"/>
            <a:ext cx="8965602" cy="53578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- Education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14:cNvPr>
              <p14:cNvContentPartPr/>
              <p14:nvPr/>
            </p14:nvContentPartPr>
            <p14:xfrm>
              <a:off x="366713" y="4876118"/>
              <a:ext cx="5976937" cy="648381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8708" y="4858097"/>
                <a:ext cx="6012587" cy="684062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49FB490-2FCF-4D0E-B90B-7EB57BB97255}"/>
              </a:ext>
            </a:extLst>
          </p:cNvPr>
          <p:cNvSpPr txBox="1"/>
          <p:nvPr/>
        </p:nvSpPr>
        <p:spPr>
          <a:xfrm>
            <a:off x="6897568" y="3465657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-1.03% </a:t>
            </a:r>
            <a:r>
              <a:rPr lang="en-US" sz="1400" b="1" dirty="0"/>
              <a:t>vs. Colorado(State)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9A06D-1B19-45C9-8D33-BEBF57AD95EE}"/>
              </a:ext>
            </a:extLst>
          </p:cNvPr>
          <p:cNvSpPr txBox="1"/>
          <p:nvPr/>
        </p:nvSpPr>
        <p:spPr>
          <a:xfrm>
            <a:off x="6897568" y="3831840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+ </a:t>
            </a:r>
            <a:r>
              <a:rPr lang="en-US" sz="1400" b="1" dirty="0"/>
              <a:t>3.76% vs. Denver(City)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FD347-686F-480C-906E-DF9BD9855A32}"/>
              </a:ext>
            </a:extLst>
          </p:cNvPr>
          <p:cNvSpPr txBox="1"/>
          <p:nvPr/>
        </p:nvSpPr>
        <p:spPr>
          <a:xfrm>
            <a:off x="9511874" y="2524541"/>
            <a:ext cx="26648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Schooling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Nursery – 4</a:t>
            </a:r>
            <a:r>
              <a:rPr lang="en-US" baseline="30000" dirty="0"/>
              <a:t>th</a:t>
            </a:r>
            <a:r>
              <a:rPr lang="en-US" dirty="0"/>
              <a:t>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</a:t>
            </a:r>
            <a:r>
              <a:rPr lang="en-US" baseline="30000" dirty="0"/>
              <a:t>th</a:t>
            </a:r>
            <a:r>
              <a:rPr lang="en-US" dirty="0"/>
              <a:t> – 6</a:t>
            </a:r>
            <a:r>
              <a:rPr lang="en-US" baseline="30000" dirty="0"/>
              <a:t>th</a:t>
            </a:r>
            <a:r>
              <a:rPr lang="en-US" dirty="0"/>
              <a:t>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</a:t>
            </a:r>
            <a:r>
              <a:rPr lang="en-US" baseline="30000" dirty="0"/>
              <a:t>th</a:t>
            </a:r>
            <a:r>
              <a:rPr lang="en-US" dirty="0"/>
              <a:t> – 8</a:t>
            </a:r>
            <a:r>
              <a:rPr lang="en-US" baseline="30000" dirty="0"/>
              <a:t>th</a:t>
            </a:r>
            <a:r>
              <a:rPr lang="en-US" dirty="0"/>
              <a:t> Grade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School Graduate GED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 College No Degree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DB6D9C30-F0E2-46C2-A180-E72D154753CB}"/>
              </a:ext>
            </a:extLst>
          </p:cNvPr>
          <p:cNvSpPr/>
          <p:nvPr/>
        </p:nvSpPr>
        <p:spPr>
          <a:xfrm>
            <a:off x="9424681" y="2643188"/>
            <a:ext cx="174386" cy="2509837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0CB865A2-B775-456C-828F-0463CBCBB48B}"/>
              </a:ext>
            </a:extLst>
          </p:cNvPr>
          <p:cNvCxnSpPr/>
          <p:nvPr/>
        </p:nvCxnSpPr>
        <p:spPr>
          <a:xfrm rot="10800000" flipV="1">
            <a:off x="6691314" y="3910013"/>
            <a:ext cx="2547937" cy="12430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083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B05ABE-1B09-4B02-9C7B-E1DBD481B2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63" y="1933396"/>
            <a:ext cx="8667983" cy="46947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– Number of People per Households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14:cNvPr>
              <p14:cNvContentPartPr/>
              <p14:nvPr/>
            </p14:nvContentPartPr>
            <p14:xfrm>
              <a:off x="579749" y="2737052"/>
              <a:ext cx="2030357" cy="1383896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1746" y="2719028"/>
                <a:ext cx="2066003" cy="1419584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49FB490-2FCF-4D0E-B90B-7EB57BB97255}"/>
              </a:ext>
            </a:extLst>
          </p:cNvPr>
          <p:cNvSpPr txBox="1"/>
          <p:nvPr/>
        </p:nvSpPr>
        <p:spPr>
          <a:xfrm>
            <a:off x="6924585" y="4140603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</a:t>
            </a:r>
            <a:r>
              <a:rPr lang="en-US" sz="1400" b="1" dirty="0">
                <a:solidFill>
                  <a:srgbClr val="FF0000"/>
                </a:solidFill>
              </a:rPr>
              <a:t>-1.03% </a:t>
            </a:r>
            <a:r>
              <a:rPr lang="en-US" sz="1400" b="1" dirty="0"/>
              <a:t>vs. Colorado(State)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49A06D-1B19-45C9-8D33-BEBF57AD95EE}"/>
              </a:ext>
            </a:extLst>
          </p:cNvPr>
          <p:cNvSpPr txBox="1"/>
          <p:nvPr/>
        </p:nvSpPr>
        <p:spPr>
          <a:xfrm>
            <a:off x="6924585" y="4506786"/>
            <a:ext cx="246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 + </a:t>
            </a:r>
            <a:r>
              <a:rPr lang="en-US" sz="1400" b="1" dirty="0"/>
              <a:t>3.76% vs. Denver(City)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14505" y="1010066"/>
            <a:ext cx="327673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“Income” from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Insert a comma in the #s and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Replace “to” with a hyphen (-)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5FD347-686F-480C-906E-DF9BD9855A32}"/>
              </a:ext>
            </a:extLst>
          </p:cNvPr>
          <p:cNvSpPr txBox="1"/>
          <p:nvPr/>
        </p:nvSpPr>
        <p:spPr>
          <a:xfrm>
            <a:off x="9265613" y="2534066"/>
            <a:ext cx="26648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7 +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6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Persons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B55537-AFF3-4464-B702-4184D18013E3}"/>
                  </a:ext>
                </a:extLst>
              </p14:cNvPr>
              <p14:cNvContentPartPr/>
              <p14:nvPr/>
            </p14:nvContentPartPr>
            <p14:xfrm>
              <a:off x="6983132" y="2524904"/>
              <a:ext cx="2030357" cy="138389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B55537-AFF3-4464-B702-4184D18013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65129" y="2506880"/>
                <a:ext cx="2066003" cy="14195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7453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B6AE-407E-41FF-B4CC-104E2BEC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2670175"/>
            <a:ext cx="10515600" cy="1325563"/>
          </a:xfrm>
        </p:spPr>
        <p:txBody>
          <a:bodyPr/>
          <a:lstStyle/>
          <a:p>
            <a:r>
              <a:rPr lang="en-US" dirty="0"/>
              <a:t>Alternative Dashboard Options</a:t>
            </a:r>
          </a:p>
        </p:txBody>
      </p:sp>
    </p:spTree>
    <p:extLst>
      <p:ext uri="{BB962C8B-B14F-4D97-AF65-F5344CB8AC3E}">
        <p14:creationId xmlns:p14="http://schemas.microsoft.com/office/powerpoint/2010/main" val="87467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/>
              <a:t>Age Groups </a:t>
            </a:r>
            <a:r>
              <a:rPr lang="en-US" dirty="0"/>
              <a:t>– Toggle by Zip Codes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14505" y="1010066"/>
            <a:ext cx="234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Details by Zip Codes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9BAB4B-645B-4DE4-9B18-6BD9FEFE4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46" y="1933396"/>
            <a:ext cx="11205275" cy="442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29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B6AE-407E-41FF-B4CC-104E2BEC5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075" y="2670175"/>
            <a:ext cx="10515600" cy="1325563"/>
          </a:xfrm>
        </p:spPr>
        <p:txBody>
          <a:bodyPr/>
          <a:lstStyle/>
          <a:p>
            <a:r>
              <a:rPr lang="en-US" dirty="0"/>
              <a:t>Alternative Dashboard Corrections</a:t>
            </a:r>
          </a:p>
        </p:txBody>
      </p:sp>
    </p:spTree>
    <p:extLst>
      <p:ext uri="{BB962C8B-B14F-4D97-AF65-F5344CB8AC3E}">
        <p14:creationId xmlns:p14="http://schemas.microsoft.com/office/powerpoint/2010/main" val="602324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3CCC1B-A855-4690-9CC7-B645E5D61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462" y="3077494"/>
            <a:ext cx="7753350" cy="24955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Enlarged Views – 5-Year Projection Format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4695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comma in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Pop is supposed to show Current Year figures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65075-9F04-4D4F-B7D3-84A0AE62DA9B}"/>
              </a:ext>
            </a:extLst>
          </p:cNvPr>
          <p:cNvSpPr txBox="1"/>
          <p:nvPr/>
        </p:nvSpPr>
        <p:spPr>
          <a:xfrm>
            <a:off x="5145593" y="3633708"/>
            <a:ext cx="1776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FF"/>
                </a:highlight>
              </a:rPr>
              <a:t>2,023: 1,414,917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14:cNvPr>
              <p14:cNvContentPartPr/>
              <p14:nvPr/>
            </p14:nvContentPartPr>
            <p14:xfrm>
              <a:off x="4986827" y="3429000"/>
              <a:ext cx="851265" cy="678264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69CA48F-1412-4728-9026-B9ACDC64619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68830" y="3410990"/>
                <a:ext cx="886899" cy="713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BF25ABB-6E03-4838-BC03-5AAA9C618955}"/>
                  </a:ext>
                </a:extLst>
              </p14:cNvPr>
              <p14:cNvContentPartPr/>
              <p14:nvPr/>
            </p14:nvContentPartPr>
            <p14:xfrm>
              <a:off x="6655610" y="3918020"/>
              <a:ext cx="3176702" cy="678264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BF25ABB-6E03-4838-BC03-5AAA9C61895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37606" y="3900010"/>
                <a:ext cx="3212351" cy="713924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F386100-CF74-40F2-9BCF-B397372E4CA6}"/>
              </a:ext>
            </a:extLst>
          </p:cNvPr>
          <p:cNvCxnSpPr/>
          <p:nvPr/>
        </p:nvCxnSpPr>
        <p:spPr>
          <a:xfrm flipV="1">
            <a:off x="5390941" y="3918020"/>
            <a:ext cx="0" cy="678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91084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78BA8-357F-48DE-9262-899A059BA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952" y="1532374"/>
            <a:ext cx="8415495" cy="51599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Ethnicity – Add Hispanic Population to Pie Chart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884360" y="1050899"/>
            <a:ext cx="615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Hispanic population – it’s a separate field in the data set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69EC0B73-3632-4AD3-B451-F75C62C46E3A}"/>
              </a:ext>
            </a:extLst>
          </p:cNvPr>
          <p:cNvSpPr/>
          <p:nvPr/>
        </p:nvSpPr>
        <p:spPr>
          <a:xfrm rot="6965848">
            <a:off x="5566236" y="3574342"/>
            <a:ext cx="886732" cy="90277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3B23B-6034-4F14-8686-2EA297411D53}"/>
              </a:ext>
            </a:extLst>
          </p:cNvPr>
          <p:cNvSpPr txBox="1"/>
          <p:nvPr/>
        </p:nvSpPr>
        <p:spPr>
          <a:xfrm>
            <a:off x="3627447" y="3486778"/>
            <a:ext cx="1387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Hispanic Pop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E72A098-97E8-4AFE-A15F-D7BF1D0148CE}"/>
              </a:ext>
            </a:extLst>
          </p:cNvPr>
          <p:cNvSpPr/>
          <p:nvPr/>
        </p:nvSpPr>
        <p:spPr>
          <a:xfrm>
            <a:off x="2110202" y="1425895"/>
            <a:ext cx="8726993" cy="9144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C0C0C0"/>
              </a:highlight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A57D9D1-3E36-40E1-AF61-6D2923003BE3}"/>
              </a:ext>
            </a:extLst>
          </p:cNvPr>
          <p:cNvCxnSpPr>
            <a:stCxn id="8" idx="3"/>
          </p:cNvCxnSpPr>
          <p:nvPr/>
        </p:nvCxnSpPr>
        <p:spPr>
          <a:xfrm>
            <a:off x="5014558" y="3671444"/>
            <a:ext cx="446721" cy="136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075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Maps View – Sector and Location Alignment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272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 comma in year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0CC4D7-1D96-412E-94F0-56BAD4BBB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90" y="1861910"/>
            <a:ext cx="11138599" cy="3134179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08630-B21C-4813-A6C2-0D6B4DCC80E5}"/>
              </a:ext>
            </a:extLst>
          </p:cNvPr>
          <p:cNvCxnSpPr/>
          <p:nvPr/>
        </p:nvCxnSpPr>
        <p:spPr>
          <a:xfrm flipV="1">
            <a:off x="2718079" y="2491991"/>
            <a:ext cx="2818563" cy="182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321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Expenditure – Comparison Percentage Calc Error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3991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 calculations for State and City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08630-B21C-4813-A6C2-0D6B4DCC80E5}"/>
              </a:ext>
            </a:extLst>
          </p:cNvPr>
          <p:cNvCxnSpPr/>
          <p:nvPr/>
        </p:nvCxnSpPr>
        <p:spPr>
          <a:xfrm flipV="1">
            <a:off x="2718079" y="2491991"/>
            <a:ext cx="2818563" cy="182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211920F4-160D-49A3-8E6F-80CCFAB46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309" y="1776309"/>
            <a:ext cx="8094269" cy="461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13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Total &amp; Average Meal – Axis and Label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4012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X axis on both charts (in Millions)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08630-B21C-4813-A6C2-0D6B4DCC80E5}"/>
              </a:ext>
            </a:extLst>
          </p:cNvPr>
          <p:cNvCxnSpPr/>
          <p:nvPr/>
        </p:nvCxnSpPr>
        <p:spPr>
          <a:xfrm flipV="1">
            <a:off x="2718079" y="2491991"/>
            <a:ext cx="2818563" cy="182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4BA53B8-7829-40F3-B9E8-99756D661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91" y="2039815"/>
            <a:ext cx="11732174" cy="419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148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Retail Supply/Demand – Likely Data Read Issue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3842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Something looks whacky in the data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08630-B21C-4813-A6C2-0D6B4DCC80E5}"/>
              </a:ext>
            </a:extLst>
          </p:cNvPr>
          <p:cNvCxnSpPr/>
          <p:nvPr/>
        </p:nvCxnSpPr>
        <p:spPr>
          <a:xfrm flipV="1">
            <a:off x="2718079" y="2491991"/>
            <a:ext cx="2818563" cy="182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FC4AF4C-F317-4486-9C0C-4E49C29B3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9285" y="1542422"/>
            <a:ext cx="7942059" cy="4865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7239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6DAF2-FE80-4B0B-AFBC-E536767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1092249" cy="592138"/>
          </a:xfrm>
        </p:spPr>
        <p:txBody>
          <a:bodyPr>
            <a:normAutofit fontScale="90000"/>
          </a:bodyPr>
          <a:lstStyle/>
          <a:p>
            <a:r>
              <a:rPr lang="en-US" dirty="0"/>
              <a:t>Chart Data – Axis Data Labels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734F1A-31BA-404C-92FA-8A5BED14BAD6}"/>
              </a:ext>
            </a:extLst>
          </p:cNvPr>
          <p:cNvSpPr txBox="1"/>
          <p:nvPr/>
        </p:nvSpPr>
        <p:spPr>
          <a:xfrm>
            <a:off x="904457" y="1010066"/>
            <a:ext cx="459199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need conditional statement to limit the number of zeros in the chart labels: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number &gt; = one million, show in Thousands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If number &gt; = one thousand, show in Hundreds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Adjust the minimum – let’s not have charts unnecessarily showing from zero 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5408630-B21C-4813-A6C2-0D6B4DCC80E5}"/>
              </a:ext>
            </a:extLst>
          </p:cNvPr>
          <p:cNvCxnSpPr>
            <a:cxnSpLocks/>
          </p:cNvCxnSpPr>
          <p:nvPr/>
        </p:nvCxnSpPr>
        <p:spPr>
          <a:xfrm>
            <a:off x="4898571" y="2170444"/>
            <a:ext cx="638071" cy="321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24C1B95-EF78-4CB7-A5FF-98EDD06C6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8714" y="1658650"/>
            <a:ext cx="3775207" cy="463828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E6C02AD-F5C3-47F0-915B-28F42026A159}"/>
              </a:ext>
            </a:extLst>
          </p:cNvPr>
          <p:cNvSpPr/>
          <p:nvPr/>
        </p:nvSpPr>
        <p:spPr>
          <a:xfrm>
            <a:off x="5832231" y="1703196"/>
            <a:ext cx="1411793" cy="4029389"/>
          </a:xfrm>
          <a:prstGeom prst="ellipse">
            <a:avLst/>
          </a:prstGeom>
          <a:solidFill>
            <a:schemeClr val="accent1">
              <a:alpha val="1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4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2251</TotalTime>
  <Words>458</Words>
  <Application>Microsoft Office PowerPoint</Application>
  <PresentationFormat>Widescreen</PresentationFormat>
  <Paragraphs>79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Demographics Dashboard Adjustments</vt:lpstr>
      <vt:lpstr>Main Dashboard Views</vt:lpstr>
      <vt:lpstr>Main Dashboard View – Location Data</vt:lpstr>
      <vt:lpstr>Main Dashboard View – Location Data Filter</vt:lpstr>
      <vt:lpstr>Enlarged Views – Gender Ratio</vt:lpstr>
      <vt:lpstr>Enlarged Views – Marital Status</vt:lpstr>
      <vt:lpstr>Enlarged Views – Household Income</vt:lpstr>
      <vt:lpstr>Enlarged Views - Education</vt:lpstr>
      <vt:lpstr>Enlarged Views – Number of People per Households</vt:lpstr>
      <vt:lpstr>Alternative Dashboard Options</vt:lpstr>
      <vt:lpstr>Age Groups – Toggle by Zip Codes</vt:lpstr>
      <vt:lpstr>Alternative Dashboard Corrections</vt:lpstr>
      <vt:lpstr>Enlarged Views – 5-Year Projection Format</vt:lpstr>
      <vt:lpstr>Ethnicity – Add Hispanic Population to Pie Chart</vt:lpstr>
      <vt:lpstr>Maps View – Sector and Location Alignment</vt:lpstr>
      <vt:lpstr>Expenditure – Comparison Percentage Calc Error</vt:lpstr>
      <vt:lpstr>Total &amp; Average Meal – Axis and Label</vt:lpstr>
      <vt:lpstr>Retail Supply/Demand – Likely Data Read Issue</vt:lpstr>
      <vt:lpstr>Chart Data – Axis Data Labels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Abiy Selassie</dc:creator>
  <cp:lastModifiedBy>Abiy Selassie</cp:lastModifiedBy>
  <cp:revision>3</cp:revision>
  <dcterms:created xsi:type="dcterms:W3CDTF">2019-01-15T18:59:53Z</dcterms:created>
  <dcterms:modified xsi:type="dcterms:W3CDTF">2019-02-02T15:26:29Z</dcterms:modified>
</cp:coreProperties>
</file>